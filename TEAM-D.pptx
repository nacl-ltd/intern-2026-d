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1"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96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5BD1D3-E3F7-4ED0-B8FC-92705079F028}" type="datetimeFigureOut">
              <a:rPr kumimoji="1" lang="ja-JP" altLang="en-US" smtClean="0"/>
              <a:t>2026/8/28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DFF49B-8C5E-4A2F-9665-4130552B0827}" type="slidenum">
              <a:rPr kumimoji="1" lang="ja-JP" altLang="en-US" smtClean="0"/>
              <a:t>‹#›</a:t>
            </a:fld>
            <a:endParaRPr kumimoji="1" lang="ja-JP" altLang="en-US"/>
          </a:p>
        </p:txBody>
      </p:sp>
    </p:spTree>
    <p:extLst>
      <p:ext uri="{BB962C8B-B14F-4D97-AF65-F5344CB8AC3E}">
        <p14:creationId xmlns:p14="http://schemas.microsoft.com/office/powerpoint/2010/main" val="10650890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3DFF49B-8C5E-4A2F-9665-4130552B0827}" type="slidenum">
              <a:rPr kumimoji="1" lang="ja-JP" altLang="en-US" smtClean="0"/>
              <a:t>1</a:t>
            </a:fld>
            <a:endParaRPr kumimoji="1" lang="ja-JP" altLang="en-US"/>
          </a:p>
        </p:txBody>
      </p:sp>
    </p:spTree>
    <p:extLst>
      <p:ext uri="{BB962C8B-B14F-4D97-AF65-F5344CB8AC3E}">
        <p14:creationId xmlns:p14="http://schemas.microsoft.com/office/powerpoint/2010/main" val="2622913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元々ユーザープロフィール画面にフォロー</a:t>
            </a:r>
            <a:r>
              <a:rPr kumimoji="1" lang="en-US" altLang="ja-JP" dirty="0"/>
              <a:t>/</a:t>
            </a:r>
            <a:r>
              <a:rPr kumimoji="1" lang="ja-JP" altLang="en-US" dirty="0"/>
              <a:t>フォロワーをカウントする機能があるのでそれを表示されたユーザーに対して行い表示しています。</a:t>
            </a:r>
          </a:p>
          <a:p>
            <a:r>
              <a:rPr kumimoji="1" lang="ja-JP" altLang="en-US" dirty="0"/>
              <a:t>フォロー関係はリレーションシップテーブルに誰が誰をフォローしているかという関係を</a:t>
            </a:r>
            <a:r>
              <a:rPr kumimoji="1" lang="en-US" altLang="ja-JP" dirty="0"/>
              <a:t>1</a:t>
            </a:r>
            <a:r>
              <a:rPr kumimoji="1" lang="ja-JP" altLang="en-US" dirty="0"/>
              <a:t>件ずつ記録されています</a:t>
            </a:r>
          </a:p>
          <a:p>
            <a:r>
              <a:rPr kumimoji="1" lang="ja-JP" altLang="en-US" dirty="0"/>
              <a:t>例えば、</a:t>
            </a:r>
            <a:r>
              <a:rPr kumimoji="1" lang="en-US" altLang="ja-JP" dirty="0"/>
              <a:t>A</a:t>
            </a:r>
            <a:r>
              <a:rPr kumimoji="1" lang="ja-JP" altLang="en-US" dirty="0"/>
              <a:t>さんが</a:t>
            </a:r>
            <a:r>
              <a:rPr kumimoji="1" lang="en-US" altLang="ja-JP" dirty="0"/>
              <a:t>B</a:t>
            </a:r>
            <a:r>
              <a:rPr kumimoji="1" lang="ja-JP" altLang="en-US" dirty="0"/>
              <a:t>さんをフォローした場合は、</a:t>
            </a:r>
          </a:p>
          <a:p>
            <a:r>
              <a:rPr kumimoji="1" lang="en-US" altLang="ja-JP" dirty="0" err="1"/>
              <a:t>follower_id</a:t>
            </a:r>
            <a:r>
              <a:rPr kumimoji="1" lang="en-US" altLang="ja-JP" dirty="0"/>
              <a:t> = A</a:t>
            </a:r>
            <a:r>
              <a:rPr kumimoji="1" lang="ja-JP" altLang="en-US" dirty="0"/>
              <a:t>さん</a:t>
            </a:r>
          </a:p>
          <a:p>
            <a:r>
              <a:rPr kumimoji="1" lang="en-US" altLang="ja-JP" dirty="0" err="1"/>
              <a:t>followed_id</a:t>
            </a:r>
            <a:r>
              <a:rPr kumimoji="1" lang="en-US" altLang="ja-JP" dirty="0"/>
              <a:t> = B</a:t>
            </a:r>
            <a:r>
              <a:rPr kumimoji="1" lang="ja-JP" altLang="en-US" dirty="0"/>
              <a:t>さんという</a:t>
            </a:r>
            <a:r>
              <a:rPr kumimoji="1" lang="en-US" altLang="ja-JP" dirty="0"/>
              <a:t>1</a:t>
            </a:r>
            <a:r>
              <a:rPr kumimoji="1" lang="ja-JP" altLang="en-US" dirty="0"/>
              <a:t>件が記録されます。</a:t>
            </a:r>
          </a:p>
          <a:p>
            <a:r>
              <a:rPr kumimoji="1" lang="ja-JP" altLang="en-US" dirty="0"/>
              <a:t>フォロー関係は一方向の情報なので、相互フォローの場合は、</a:t>
            </a:r>
          </a:p>
          <a:p>
            <a:r>
              <a:rPr kumimoji="1" lang="en-US" altLang="ja-JP" dirty="0"/>
              <a:t>A</a:t>
            </a:r>
            <a:r>
              <a:rPr kumimoji="1" lang="ja-JP" altLang="en-US" dirty="0"/>
              <a:t>さん → </a:t>
            </a:r>
            <a:r>
              <a:rPr kumimoji="1" lang="en-US" altLang="ja-JP" dirty="0"/>
              <a:t>B</a:t>
            </a:r>
            <a:r>
              <a:rPr kumimoji="1" lang="ja-JP" altLang="en-US" dirty="0"/>
              <a:t>さん</a:t>
            </a:r>
          </a:p>
          <a:p>
            <a:r>
              <a:rPr kumimoji="1" lang="en-US" altLang="ja-JP" dirty="0"/>
              <a:t>B</a:t>
            </a:r>
            <a:r>
              <a:rPr kumimoji="1" lang="ja-JP" altLang="en-US" dirty="0"/>
              <a:t>さん → </a:t>
            </a:r>
            <a:r>
              <a:rPr kumimoji="1" lang="en-US" altLang="ja-JP" dirty="0"/>
              <a:t>A</a:t>
            </a:r>
            <a:r>
              <a:rPr kumimoji="1" lang="ja-JP" altLang="en-US" dirty="0"/>
              <a:t>さん</a:t>
            </a:r>
          </a:p>
          <a:p>
            <a:r>
              <a:rPr kumimoji="1" lang="ja-JP" altLang="en-US" dirty="0"/>
              <a:t>という</a:t>
            </a:r>
            <a:r>
              <a:rPr kumimoji="1" lang="en-US" altLang="ja-JP" dirty="0"/>
              <a:t>2</a:t>
            </a:r>
            <a:r>
              <a:rPr kumimoji="1" lang="ja-JP" altLang="en-US" dirty="0"/>
              <a:t>件のレコードがそれぞれ記録されます。</a:t>
            </a:r>
          </a:p>
          <a:p>
            <a:r>
              <a:rPr kumimoji="1" lang="ja-JP" altLang="en-US" dirty="0"/>
              <a:t>カウント機能はフォロー数を調べたいなら</a:t>
            </a:r>
            <a:r>
              <a:rPr kumimoji="1" lang="en-US" altLang="ja-JP" dirty="0" err="1"/>
              <a:t>followed_id</a:t>
            </a:r>
            <a:r>
              <a:rPr kumimoji="1" lang="ja-JP" altLang="en-US" dirty="0"/>
              <a:t>が自分のものを</a:t>
            </a:r>
          </a:p>
          <a:p>
            <a:r>
              <a:rPr kumimoji="1" lang="ja-JP" altLang="en-US" dirty="0"/>
              <a:t>フォロワー数を調べたいなら</a:t>
            </a:r>
            <a:r>
              <a:rPr kumimoji="1" lang="en-US" altLang="ja-JP" dirty="0" err="1"/>
              <a:t>follower_id</a:t>
            </a:r>
            <a:r>
              <a:rPr kumimoji="1" lang="ja-JP" altLang="en-US" dirty="0"/>
              <a:t>が自分のものをカウントしています</a:t>
            </a:r>
          </a:p>
        </p:txBody>
      </p:sp>
      <p:sp>
        <p:nvSpPr>
          <p:cNvPr id="4" name="スライド番号プレースホルダー 3"/>
          <p:cNvSpPr>
            <a:spLocks noGrp="1"/>
          </p:cNvSpPr>
          <p:nvPr>
            <p:ph type="sldNum" sz="quarter" idx="5"/>
          </p:nvPr>
        </p:nvSpPr>
        <p:spPr/>
        <p:txBody>
          <a:bodyPr/>
          <a:lstStyle/>
          <a:p>
            <a:fld id="{E3DFF49B-8C5E-4A2F-9665-4130552B0827}" type="slidenum">
              <a:rPr kumimoji="1" lang="ja-JP" altLang="en-US" smtClean="0"/>
              <a:t>4</a:t>
            </a:fld>
            <a:endParaRPr kumimoji="1" lang="ja-JP" altLang="en-US"/>
          </a:p>
        </p:txBody>
      </p:sp>
    </p:spTree>
    <p:extLst>
      <p:ext uri="{BB962C8B-B14F-4D97-AF65-F5344CB8AC3E}">
        <p14:creationId xmlns:p14="http://schemas.microsoft.com/office/powerpoint/2010/main" val="3722897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オリジナル</a:t>
            </a:r>
          </a:p>
          <a:p>
            <a:r>
              <a:rPr kumimoji="1" lang="ja-JP" altLang="en-US" dirty="0"/>
              <a:t>まず、投稿に属性を保存するため、マイクロポスト テーブルに カテゴリー カラムを追加しました。投稿時にプルダウンから属性を選択すると、その属性に対応した値（</a:t>
            </a:r>
            <a:r>
              <a:rPr kumimoji="1" lang="en-US" altLang="ja-JP" dirty="0"/>
              <a:t>question</a:t>
            </a:r>
            <a:r>
              <a:rPr kumimoji="1" lang="ja-JP" altLang="en-US" dirty="0"/>
              <a:t>、</a:t>
            </a:r>
            <a:r>
              <a:rPr kumimoji="1" lang="en-US" altLang="ja-JP" dirty="0"/>
              <a:t>diary</a:t>
            </a:r>
            <a:r>
              <a:rPr kumimoji="1" lang="ja-JP" altLang="en-US" dirty="0"/>
              <a:t>、</a:t>
            </a:r>
            <a:r>
              <a:rPr kumimoji="1" lang="en-US" altLang="ja-JP" dirty="0"/>
              <a:t>notice</a:t>
            </a:r>
            <a:r>
              <a:rPr kumimoji="1" lang="ja-JP" altLang="en-US" dirty="0"/>
              <a:t>）がデータベースに保存されます。</a:t>
            </a:r>
          </a:p>
          <a:p>
            <a:endParaRPr kumimoji="1" lang="ja-JP" altLang="en-US" dirty="0"/>
          </a:p>
          <a:p>
            <a:r>
              <a:rPr kumimoji="1" lang="ja-JP" altLang="en-US" dirty="0"/>
              <a:t>投稿を表示するときは、保存されている カテゴリー の値を確認し、それぞれ「質問」「日記」「お知らせ」という日本語に変換して表示しています。</a:t>
            </a:r>
          </a:p>
          <a:p>
            <a:endParaRPr kumimoji="1" lang="ja-JP" altLang="en-US" dirty="0"/>
          </a:p>
          <a:p>
            <a:r>
              <a:rPr kumimoji="1" lang="ja-JP" altLang="en-US" dirty="0"/>
              <a:t>また、属性を選択せずに投稿した場合は カテゴリー が空になるため、その場合は「未選択」と表示するようにしています。</a:t>
            </a:r>
          </a:p>
          <a:p>
            <a:endParaRPr kumimoji="1" lang="ja-JP" altLang="en-US" dirty="0"/>
          </a:p>
          <a:p>
            <a:endParaRPr kumimoji="1" lang="ja-JP" altLang="en-US" dirty="0"/>
          </a:p>
          <a:p>
            <a:endParaRPr kumimoji="1" lang="ja-JP" altLang="en-US" dirty="0"/>
          </a:p>
          <a:p>
            <a:endParaRPr kumimoji="1" lang="ja-JP" altLang="en-US" dirty="0"/>
          </a:p>
          <a:p>
            <a:r>
              <a:rPr kumimoji="1" lang="ja-JP" altLang="en-US" dirty="0"/>
              <a:t>ホーム画面に属性を選択するプルダウンと検索ボタンを追加しました。選択した属性は</a:t>
            </a:r>
            <a:r>
              <a:rPr kumimoji="1" lang="en-US" altLang="ja-JP" dirty="0"/>
              <a:t>URL</a:t>
            </a:r>
            <a:r>
              <a:rPr kumimoji="1" lang="ja-JP" altLang="en-US" dirty="0"/>
              <a:t>のパラメータとして送られ、コントローラーでその値を受け取ります。</a:t>
            </a:r>
          </a:p>
          <a:p>
            <a:endParaRPr kumimoji="1" lang="ja-JP" altLang="en-US" dirty="0"/>
          </a:p>
          <a:p>
            <a:r>
              <a:rPr kumimoji="1" lang="ja-JP" altLang="en-US" dirty="0"/>
              <a:t>コントローラーでは、まず通常通り投稿を取得します。その後、属性が指定されている場合は</a:t>
            </a:r>
            <a:r>
              <a:rPr kumimoji="1" lang="en-US" altLang="ja-JP" dirty="0"/>
              <a:t>category </a:t>
            </a:r>
            <a:r>
              <a:rPr kumimoji="1" lang="ja-JP" altLang="en-US" dirty="0"/>
              <a:t>が指定された値と一致する投稿だけに絞り込みます。</a:t>
            </a:r>
          </a:p>
          <a:p>
            <a:endParaRPr kumimoji="1" lang="ja-JP" altLang="en-US" dirty="0"/>
          </a:p>
          <a:p>
            <a:r>
              <a:rPr kumimoji="1" lang="ja-JP" altLang="en-US" dirty="0"/>
              <a:t>例えば「質問」を選択した場合は、</a:t>
            </a:r>
            <a:r>
              <a:rPr kumimoji="1" lang="en-US" altLang="ja-JP" dirty="0"/>
              <a:t>category </a:t>
            </a:r>
            <a:r>
              <a:rPr kumimoji="1" lang="ja-JP" altLang="en-US" dirty="0"/>
              <a:t>が </a:t>
            </a:r>
            <a:r>
              <a:rPr kumimoji="1" lang="en-US" altLang="ja-JP" dirty="0"/>
              <a:t>question </a:t>
            </a:r>
            <a:r>
              <a:rPr kumimoji="1" lang="ja-JP" altLang="en-US" dirty="0"/>
              <a:t>の投稿だけが表示されます。</a:t>
            </a:r>
          </a:p>
          <a:p>
            <a:endParaRPr kumimoji="1" lang="ja-JP" altLang="en-US" dirty="0"/>
          </a:p>
          <a:p>
            <a:r>
              <a:rPr kumimoji="1" lang="ja-JP" altLang="en-US" dirty="0"/>
              <a:t>また、「未選択」を選んだ場合は、</a:t>
            </a:r>
            <a:r>
              <a:rPr kumimoji="1" lang="en-US" altLang="ja-JP" dirty="0"/>
              <a:t>category </a:t>
            </a:r>
            <a:r>
              <a:rPr kumimoji="1" lang="ja-JP" altLang="en-US" dirty="0"/>
              <a:t>が </a:t>
            </a:r>
            <a:r>
              <a:rPr kumimoji="1" lang="en-US" altLang="ja-JP" dirty="0"/>
              <a:t>nil </a:t>
            </a:r>
            <a:r>
              <a:rPr kumimoji="1" lang="ja-JP" altLang="en-US" dirty="0"/>
              <a:t>の投稿だけを取得するようにしています。</a:t>
            </a:r>
          </a:p>
          <a:p>
            <a:endParaRPr kumimoji="1" lang="ja-JP" altLang="en-US" dirty="0"/>
          </a:p>
          <a:p>
            <a:r>
              <a:rPr kumimoji="1" lang="ja-JP" altLang="en-US" dirty="0"/>
              <a:t>最後に、絞り込んだ投稿をページネーションに渡して、複数ページに分けて表示しています。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E3DFF49B-8C5E-4A2F-9665-4130552B0827}" type="slidenum">
              <a:rPr kumimoji="1" lang="ja-JP" altLang="en-US" smtClean="0"/>
              <a:t>7</a:t>
            </a:fld>
            <a:endParaRPr kumimoji="1" lang="ja-JP" altLang="en-US"/>
          </a:p>
        </p:txBody>
      </p:sp>
    </p:spTree>
    <p:extLst>
      <p:ext uri="{BB962C8B-B14F-4D97-AF65-F5344CB8AC3E}">
        <p14:creationId xmlns:p14="http://schemas.microsoft.com/office/powerpoint/2010/main" val="2090017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ja-JP" altLang="en-US"/>
              <a:t>マスター タイトルの書式設定</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37411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4983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ja-JP" altLang="en-US"/>
              <a:t>マスター タイトルの書式設定</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ja-JP" altLang="en-US"/>
              <a:t>マスター サブタイトルの書式設定</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326951E3-958F-4611-B170-D081BA0250F9}" type="datetimeFigureOut">
              <a:rPr lang="en-US" smtClean="0"/>
              <a:pPr/>
              <a:t>8/28/2026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42594332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ja-JP" altLang="en-US"/>
              <a:t>マスター タイトルの書式設定</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ja-JP" altLang="en-US"/>
              <a:t>マスター サブタイトルの書式設定</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326951E3-958F-4611-B170-D081BA0250F9}" type="datetimeFigureOut">
              <a:rPr lang="en-US" smtClean="0"/>
              <a:pPr/>
              <a:t>8/28/2026</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37205612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セクション見出し">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57871EFB-7B9E-4E86-A89E-697E8EBB06F2}"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59393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64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326951E3-958F-4611-B170-D081BA0250F9}" type="datetimeFigureOut">
              <a:rPr lang="en-US" smtClean="0"/>
              <a:pPr/>
              <a:t>8/28/2026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57871EFB-7B9E-4E86-A89E-697E8EBB06F2}" type="slidenum">
              <a:rPr lang="en-US" smtClean="0"/>
              <a:pPr/>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1692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ja-JP" altLang="en-US"/>
              <a:t>マスター タイトルの書式設定</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2006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ja-JP" altLang="en-US"/>
              <a:t>マスター タイトルの書式設定</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7962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ja-JP" altLang="en-US"/>
              <a:t>マスター タイトルの書式設定</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326951E3-958F-4611-B170-D081BA0250F9}" type="datetimeFigureOut">
              <a:rPr lang="en-US" smtClean="0"/>
              <a:pPr/>
              <a:t>8/28/2026</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2644509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ja-JP" altLang="en-US"/>
              <a:t>マスター タイトルの書式設定</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326951E3-958F-4611-B170-D081BA0250F9}" type="datetimeFigureOut">
              <a:rPr lang="en-US" smtClean="0"/>
              <a:pPr/>
              <a:t>8/28/2026</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28151118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ja-JP" altLang="en-US"/>
              <a:t>マスター タイトルの書式設定</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endParaRPr lang="en-US" dirty="0"/>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326951E3-958F-4611-B170-D081BA0250F9}" type="datetimeFigureOut">
              <a:rPr lang="en-US" smtClean="0"/>
              <a:pPr/>
              <a:t>8/28/2026</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57871EFB-7B9E-4E86-A89E-697E8EBB06F2}" type="slidenum">
              <a:rPr lang="en-US" smtClean="0"/>
              <a:pPr/>
              <a:t>‹#›</a:t>
            </a:fld>
            <a:endParaRPr lang="en-US" dirty="0"/>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12478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ja-JP" altLang="en-US"/>
              <a:t>マスター タイトルの書式設定</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endParaRPr lang="en-US" dirty="0"/>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326951E3-958F-4611-B170-D081BA0250F9}" type="datetimeFigureOut">
              <a:rPr lang="en-US" smtClean="0"/>
              <a:pPr/>
              <a:t>8/28/2026</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57871EFB-7B9E-4E86-A89E-697E8EBB06F2}"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227526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ja-JP" altLang="en-US"/>
              <a:t>マスター タイトルの書式設定</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326951E3-958F-4611-B170-D081BA0250F9}" type="datetimeFigureOut">
              <a:rPr lang="en-US" smtClean="0"/>
              <a:pPr/>
              <a:t>8/28/2026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57871EFB-7B9E-4E86-A89E-697E8EBB06F2}"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742283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ja-JP" altLang="en-US"/>
              <a:t>マスター タイトルの書式設定</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endParaRPr lang="en-US" dirty="0"/>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326951E3-958F-4611-B170-D081BA0250F9}" type="datetimeFigureOut">
              <a:rPr lang="en-US" smtClean="0"/>
              <a:pPr/>
              <a:t>8/28/2026</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2170845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ja-JP" altLang="en-US"/>
              <a:t>マスター タイトルの書式設定</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326951E3-958F-4611-B170-D081BA0250F9}" type="datetimeFigureOut">
              <a:rPr lang="en-US" smtClean="0"/>
              <a:pPr/>
              <a:t>8/28/2026</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17807700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ja-JP" altLang="en-US"/>
              <a:t>マスター タイトルの書式設定</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2062501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ja-JP" altLang="en-US"/>
              <a:t>マスター タイトルの書式設定</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0061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ja-JP" altLang="en-US"/>
              <a:t>マスター タイトルの書式設定</a:t>
            </a:r>
            <a:endParaRPr lang="en-US"/>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57871EFB-7B9E-4E86-A89E-697E8EBB06F2}"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2004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ja-JP" altLang="en-US"/>
              <a:t>マスター タイトルの書式設定</a:t>
            </a: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220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86690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7536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ja-JP" altLang="en-US"/>
              <a:t>マスター タイトルの書式設定</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5819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ja-JP" altLang="en-US"/>
              <a:t>マスター タイトルの書式設定</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57871EFB-7B9E-4E86-A89E-697E8EBB06F2}" type="slidenum">
              <a:rPr lang="en-US" smtClean="0"/>
              <a:pPr/>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36641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1463050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ja-JP" altLang="en-US"/>
              <a:t>マスター タイトルの書式設定</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7871EFB-7B9E-4E86-A89E-697E8EBB06F2}"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359919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ja-JP" altLang="en-US"/>
              <a:t>マスター タイトルの書式設定</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7871EFB-7B9E-4E86-A89E-697E8EBB06F2}"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23883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1_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1301042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326951E3-958F-4611-B170-D081BA0250F9}" type="datetimeFigureOut">
              <a:rPr lang="en-US" smtClean="0"/>
              <a:pPr/>
              <a:t>8/28/2026</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3653892262"/>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 id="2147483881" r:id="rId20"/>
    <p:sldLayoutId id="2147483882" r:id="rId21"/>
    <p:sldLayoutId id="2147483883" r:id="rId22"/>
    <p:sldLayoutId id="2147483884" r:id="rId23"/>
    <p:sldLayoutId id="2147483885" r:id="rId24"/>
    <p:sldLayoutId id="2147483886" r:id="rId25"/>
    <p:sldLayoutId id="2147483887" r:id="rId26"/>
    <p:sldLayoutId id="2147483888" r:id="rId27"/>
    <p:sldLayoutId id="2147483889" r:id="rId28"/>
  </p:sldLayoutIdLst>
  <p:txStyles>
    <p:titleStyle>
      <a:lvl1pPr algn="l" defTabSz="914400" rtl="0" eaLnBrk="1" latinLnBrk="0" hangingPunct="1">
        <a:lnSpc>
          <a:spcPct val="85000"/>
        </a:lnSpc>
        <a:spcBef>
          <a:spcPct val="0"/>
        </a:spcBef>
        <a:buNone/>
        <a:defRPr kumimoji="1"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kumimoji="1"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kumimoji="1"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kumimoji="1"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kumimoji="1"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0D9B67-11B0-F1DA-1110-0E58C23C8D8A}"/>
              </a:ext>
            </a:extLst>
          </p:cNvPr>
          <p:cNvSpPr>
            <a:spLocks noGrp="1"/>
          </p:cNvSpPr>
          <p:nvPr>
            <p:ph type="title"/>
          </p:nvPr>
        </p:nvSpPr>
        <p:spPr>
          <a:xfrm>
            <a:off x="7894207" y="1112431"/>
            <a:ext cx="3230993" cy="1858941"/>
          </a:xfrm>
        </p:spPr>
        <p:txBody>
          <a:bodyPr vert="horz" lIns="91440" tIns="45720" rIns="91440" bIns="45720" rtlCol="0" anchor="t">
            <a:normAutofit/>
          </a:bodyPr>
          <a:lstStyle/>
          <a:p>
            <a:r>
              <a:rPr lang="en-US" altLang="ja-JP"/>
              <a:t>TEAM-D</a:t>
            </a:r>
            <a:br>
              <a:rPr lang="en-US" altLang="ja-JP"/>
            </a:br>
            <a:r>
              <a:rPr lang="ja-JP" altLang="en-US"/>
              <a:t>成果発表</a:t>
            </a:r>
          </a:p>
        </p:txBody>
      </p:sp>
      <p:pic>
        <p:nvPicPr>
          <p:cNvPr id="15" name="Picture 3">
            <a:extLst>
              <a:ext uri="{FF2B5EF4-FFF2-40B4-BE49-F238E27FC236}">
                <a16:creationId xmlns:a16="http://schemas.microsoft.com/office/drawing/2014/main" id="{0F1C61CC-C740-2B91-2A4D-51A8E1B65A41}"/>
              </a:ext>
            </a:extLst>
          </p:cNvPr>
          <p:cNvPicPr>
            <a:picLocks noChangeAspect="1"/>
          </p:cNvPicPr>
          <p:nvPr/>
        </p:nvPicPr>
        <p:blipFill>
          <a:blip r:embed="rId3"/>
          <a:srcRect l="12258" r="14919" b="-1"/>
          <a:stretch>
            <a:fillRect/>
          </a:stretch>
        </p:blipFill>
        <p:spPr>
          <a:xfrm>
            <a:off x="12192" y="10"/>
            <a:ext cx="7481777" cy="685799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
        <p:nvSpPr>
          <p:cNvPr id="5" name="テキスト ボックス 4">
            <a:extLst>
              <a:ext uri="{FF2B5EF4-FFF2-40B4-BE49-F238E27FC236}">
                <a16:creationId xmlns:a16="http://schemas.microsoft.com/office/drawing/2014/main" id="{A1A079EB-B3E3-0BFE-35DC-36CD3B0D96DE}"/>
              </a:ext>
            </a:extLst>
          </p:cNvPr>
          <p:cNvSpPr txBox="1"/>
          <p:nvPr/>
        </p:nvSpPr>
        <p:spPr>
          <a:xfrm>
            <a:off x="7901279" y="3133255"/>
            <a:ext cx="3674194" cy="2656250"/>
          </a:xfrm>
          <a:prstGeom prst="rect">
            <a:avLst/>
          </a:prstGeom>
        </p:spPr>
        <p:txBody>
          <a:bodyPr vert="horz" lIns="91440" tIns="45720" rIns="91440" bIns="45720" rtlCol="0">
            <a:normAutofit/>
          </a:bodyPr>
          <a:lstStyle/>
          <a:p>
            <a:pPr>
              <a:spcAft>
                <a:spcPts val="600"/>
              </a:spcAft>
            </a:pPr>
            <a:r>
              <a:rPr kumimoji="1" lang="en-US" altLang="ja-JP" sz="1600" dirty="0"/>
              <a:t>name:</a:t>
            </a:r>
          </a:p>
          <a:p>
            <a:pPr>
              <a:spcAft>
                <a:spcPts val="600"/>
              </a:spcAft>
            </a:pPr>
            <a:r>
              <a:rPr kumimoji="1" lang="ja-JP" altLang="en-US" dirty="0"/>
              <a:t>松江高専 情報工学科</a:t>
            </a:r>
            <a:r>
              <a:rPr kumimoji="1" lang="en-US" altLang="ja-JP" dirty="0"/>
              <a:t>4</a:t>
            </a:r>
            <a:r>
              <a:rPr kumimoji="1" lang="ja-JP" altLang="en-US" dirty="0"/>
              <a:t>年</a:t>
            </a:r>
            <a:endParaRPr kumimoji="1" lang="en-US" altLang="ja-JP" dirty="0"/>
          </a:p>
          <a:p>
            <a:pPr>
              <a:spcAft>
                <a:spcPts val="600"/>
              </a:spcAft>
            </a:pPr>
            <a:r>
              <a:rPr kumimoji="1" lang="ja-JP" altLang="en-US" dirty="0"/>
              <a:t>　　澤和楓音</a:t>
            </a:r>
            <a:endParaRPr kumimoji="1" lang="en-US" altLang="ja-JP" dirty="0"/>
          </a:p>
          <a:p>
            <a:pPr>
              <a:spcAft>
                <a:spcPts val="600"/>
              </a:spcAft>
            </a:pPr>
            <a:r>
              <a:rPr kumimoji="1" lang="ja-JP" altLang="en-US" dirty="0"/>
              <a:t>米子高専 情報システムコース</a:t>
            </a:r>
            <a:r>
              <a:rPr kumimoji="1" lang="en-US" altLang="ja-JP" dirty="0"/>
              <a:t>4</a:t>
            </a:r>
            <a:r>
              <a:rPr kumimoji="1" lang="ja-JP" altLang="en-US" dirty="0"/>
              <a:t>年</a:t>
            </a:r>
            <a:endParaRPr kumimoji="1" lang="en-US" altLang="ja-JP" dirty="0"/>
          </a:p>
          <a:p>
            <a:pPr>
              <a:spcAft>
                <a:spcPts val="600"/>
              </a:spcAft>
            </a:pPr>
            <a:r>
              <a:rPr kumimoji="1" lang="ja-JP" altLang="en-US" dirty="0"/>
              <a:t>　　多田悠真</a:t>
            </a:r>
            <a:endParaRPr kumimoji="1" lang="en-US" altLang="ja-JP" dirty="0"/>
          </a:p>
          <a:p>
            <a:pPr>
              <a:spcAft>
                <a:spcPts val="600"/>
              </a:spcAft>
            </a:pPr>
            <a:endParaRPr kumimoji="1" lang="en-US" altLang="ja-JP" sz="1600" dirty="0"/>
          </a:p>
        </p:txBody>
      </p:sp>
    </p:spTree>
    <p:extLst>
      <p:ext uri="{BB962C8B-B14F-4D97-AF65-F5344CB8AC3E}">
        <p14:creationId xmlns:p14="http://schemas.microsoft.com/office/powerpoint/2010/main" val="446554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9B40F0-E4E5-A602-39AE-CB52521F22F7}"/>
              </a:ext>
            </a:extLst>
          </p:cNvPr>
          <p:cNvSpPr>
            <a:spLocks noGrp="1"/>
          </p:cNvSpPr>
          <p:nvPr>
            <p:ph type="title"/>
          </p:nvPr>
        </p:nvSpPr>
        <p:spPr>
          <a:xfrm>
            <a:off x="849760" y="629414"/>
            <a:ext cx="10427840" cy="1086056"/>
          </a:xfrm>
        </p:spPr>
        <p:txBody>
          <a:bodyPr/>
          <a:lstStyle/>
          <a:p>
            <a:r>
              <a:rPr kumimoji="1" lang="ja-JP" altLang="en-US" dirty="0"/>
              <a:t>取り組んだこと</a:t>
            </a:r>
          </a:p>
        </p:txBody>
      </p:sp>
      <p:sp>
        <p:nvSpPr>
          <p:cNvPr id="3" name="コンテンツ プレースホルダー 2">
            <a:extLst>
              <a:ext uri="{FF2B5EF4-FFF2-40B4-BE49-F238E27FC236}">
                <a16:creationId xmlns:a16="http://schemas.microsoft.com/office/drawing/2014/main" id="{83FE65A3-8BE3-7494-D7B1-724A8F6925E4}"/>
              </a:ext>
            </a:extLst>
          </p:cNvPr>
          <p:cNvSpPr>
            <a:spLocks noGrp="1"/>
          </p:cNvSpPr>
          <p:nvPr>
            <p:ph idx="1"/>
          </p:nvPr>
        </p:nvSpPr>
        <p:spPr>
          <a:xfrm>
            <a:off x="566929" y="2078400"/>
            <a:ext cx="11210544" cy="4048080"/>
          </a:xfrm>
        </p:spPr>
        <p:txBody>
          <a:bodyPr>
            <a:normAutofit/>
          </a:bodyPr>
          <a:lstStyle/>
          <a:p>
            <a:pPr marL="0" indent="0">
              <a:buNone/>
            </a:pPr>
            <a:r>
              <a:rPr kumimoji="1" lang="ja-JP" altLang="en-US" sz="3200" dirty="0"/>
              <a:t>１</a:t>
            </a:r>
            <a:r>
              <a:rPr kumimoji="1" lang="en-US" altLang="ja-JP" sz="3200" dirty="0"/>
              <a:t>.</a:t>
            </a:r>
            <a:r>
              <a:rPr kumimoji="1" lang="ja-JP" altLang="en-US" sz="3200" dirty="0"/>
              <a:t>サンプルアプリに与えられた課題</a:t>
            </a:r>
            <a:r>
              <a:rPr kumimoji="1" lang="en-US" altLang="ja-JP" sz="3200" dirty="0"/>
              <a:t>isuue1,2,3</a:t>
            </a:r>
            <a:r>
              <a:rPr kumimoji="1" lang="ja-JP" altLang="en-US" sz="3200" dirty="0"/>
              <a:t>の問題の解決</a:t>
            </a:r>
            <a:endParaRPr kumimoji="1" lang="en-US" altLang="ja-JP" sz="3200" dirty="0"/>
          </a:p>
          <a:p>
            <a:pPr marL="0" indent="0">
              <a:buNone/>
            </a:pPr>
            <a:endParaRPr kumimoji="1" lang="en-US" altLang="ja-JP" dirty="0"/>
          </a:p>
          <a:p>
            <a:pPr marL="0" indent="0">
              <a:buNone/>
            </a:pPr>
            <a:r>
              <a:rPr kumimoji="1" lang="ja-JP" altLang="en-US" sz="3200" dirty="0"/>
              <a:t>２</a:t>
            </a:r>
            <a:r>
              <a:rPr kumimoji="1" lang="en-US" altLang="ja-JP" sz="3200" dirty="0"/>
              <a:t>.</a:t>
            </a:r>
            <a:r>
              <a:rPr kumimoji="1" lang="ja-JP" altLang="en-US" sz="3200" dirty="0"/>
              <a:t>オリジナル機能の追加</a:t>
            </a:r>
            <a:endParaRPr kumimoji="1" lang="en-US" altLang="ja-JP" sz="3200" dirty="0"/>
          </a:p>
          <a:p>
            <a:pPr marL="0" indent="0">
              <a:buNone/>
            </a:pPr>
            <a:r>
              <a:rPr kumimoji="1" lang="ja-JP" altLang="en-US" sz="2800" dirty="0"/>
              <a:t>・</a:t>
            </a:r>
            <a:r>
              <a:rPr kumimoji="1" lang="en-US" altLang="ja-JP" sz="2800" dirty="0"/>
              <a:t>isuue3</a:t>
            </a:r>
            <a:r>
              <a:rPr kumimoji="1" lang="ja-JP" altLang="en-US" sz="2800" dirty="0"/>
              <a:t>で作った機能の拡張</a:t>
            </a:r>
            <a:endParaRPr kumimoji="1" lang="en-US" altLang="ja-JP" sz="2800" dirty="0"/>
          </a:p>
          <a:p>
            <a:pPr marL="0" indent="0">
              <a:buNone/>
            </a:pPr>
            <a:r>
              <a:rPr kumimoji="1" lang="ja-JP" altLang="en-US" sz="2800" dirty="0"/>
              <a:t>・ポストに属性機能及び属性検索機能の追加</a:t>
            </a:r>
          </a:p>
        </p:txBody>
      </p:sp>
    </p:spTree>
    <p:extLst>
      <p:ext uri="{BB962C8B-B14F-4D97-AF65-F5344CB8AC3E}">
        <p14:creationId xmlns:p14="http://schemas.microsoft.com/office/powerpoint/2010/main" val="280048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98583E-B77D-FA0B-6BD9-34362162AD68}"/>
              </a:ext>
            </a:extLst>
          </p:cNvPr>
          <p:cNvSpPr>
            <a:spLocks noGrp="1"/>
          </p:cNvSpPr>
          <p:nvPr>
            <p:ph type="title"/>
          </p:nvPr>
        </p:nvSpPr>
        <p:spPr>
          <a:xfrm>
            <a:off x="849759" y="989302"/>
            <a:ext cx="10427840" cy="568450"/>
          </a:xfrm>
        </p:spPr>
        <p:txBody>
          <a:bodyPr/>
          <a:lstStyle/>
          <a:p>
            <a:r>
              <a:rPr kumimoji="1" lang="en-US" altLang="ja-JP" dirty="0"/>
              <a:t>issue1</a:t>
            </a:r>
            <a:r>
              <a:rPr kumimoji="1" lang="ja-JP" altLang="en-US" dirty="0"/>
              <a:t>について</a:t>
            </a:r>
          </a:p>
        </p:txBody>
      </p:sp>
      <p:sp>
        <p:nvSpPr>
          <p:cNvPr id="3" name="コンテンツ プレースホルダー 2">
            <a:extLst>
              <a:ext uri="{FF2B5EF4-FFF2-40B4-BE49-F238E27FC236}">
                <a16:creationId xmlns:a16="http://schemas.microsoft.com/office/drawing/2014/main" id="{786BBB66-428F-E626-A711-FC6E073330F9}"/>
              </a:ext>
            </a:extLst>
          </p:cNvPr>
          <p:cNvSpPr>
            <a:spLocks noGrp="1"/>
          </p:cNvSpPr>
          <p:nvPr>
            <p:ph idx="1"/>
          </p:nvPr>
        </p:nvSpPr>
        <p:spPr>
          <a:xfrm>
            <a:off x="849758" y="1764232"/>
            <a:ext cx="10427841" cy="3903298"/>
          </a:xfrm>
        </p:spPr>
        <p:txBody>
          <a:bodyPr/>
          <a:lstStyle/>
          <a:p>
            <a:pPr marL="0" indent="0">
              <a:buNone/>
            </a:pPr>
            <a:r>
              <a:rPr kumimoji="1" lang="ja-JP" altLang="en-US" sz="4400" dirty="0"/>
              <a:t>・概要</a:t>
            </a:r>
            <a:endParaRPr kumimoji="1" lang="en-US" altLang="ja-JP" sz="4400" dirty="0"/>
          </a:p>
          <a:p>
            <a:pPr marL="0" indent="0">
              <a:buNone/>
            </a:pPr>
            <a:r>
              <a:rPr lang="ja-JP" altLang="ja-JP" sz="2800" dirty="0"/>
              <a:t>プロフィールに自己紹介文を登録</a:t>
            </a:r>
            <a:r>
              <a:rPr lang="ja-JP" altLang="en-US" sz="2800" dirty="0"/>
              <a:t>し、表示させる</a:t>
            </a:r>
            <a:endParaRPr lang="en-US" altLang="ja-JP" sz="2800" dirty="0"/>
          </a:p>
          <a:p>
            <a:pPr marL="0" indent="0">
              <a:buNone/>
            </a:pPr>
            <a:endParaRPr kumimoji="1" lang="en-US" altLang="ja-JP" dirty="0"/>
          </a:p>
          <a:p>
            <a:pPr marL="0" indent="0">
              <a:buNone/>
            </a:pPr>
            <a:r>
              <a:rPr kumimoji="1" lang="ja-JP" altLang="en-US" sz="4400" dirty="0"/>
              <a:t>・実装内容</a:t>
            </a:r>
            <a:endParaRPr kumimoji="1" lang="en-US" altLang="ja-JP" sz="4400" dirty="0"/>
          </a:p>
          <a:p>
            <a:pPr marL="0" indent="0">
              <a:buNone/>
            </a:pPr>
            <a:r>
              <a:rPr lang="ja-JP" altLang="ja-JP" sz="2400" dirty="0"/>
              <a:t>プロフィール更新画面で自己紹介文を編集できる</a:t>
            </a:r>
            <a:r>
              <a:rPr lang="ja-JP" altLang="en-US" sz="2400" dirty="0"/>
              <a:t>機能</a:t>
            </a:r>
            <a:endParaRPr lang="en-US" altLang="ja-JP" sz="2400" dirty="0"/>
          </a:p>
          <a:p>
            <a:pPr marL="0" indent="0">
              <a:buNone/>
            </a:pPr>
            <a:r>
              <a:rPr lang="ja-JP" altLang="ja-JP" sz="2400" dirty="0"/>
              <a:t>登録した自己紹介文</a:t>
            </a:r>
            <a:r>
              <a:rPr lang="ja-JP" altLang="en-US" sz="2400" dirty="0"/>
              <a:t>を</a:t>
            </a:r>
            <a:r>
              <a:rPr lang="ja-JP" altLang="ja-JP" sz="2400" dirty="0"/>
              <a:t>ユーザ一覧、ユーザ詳細画面</a:t>
            </a:r>
            <a:r>
              <a:rPr lang="ja-JP" altLang="en-US" sz="2400" dirty="0"/>
              <a:t>に</a:t>
            </a:r>
            <a:r>
              <a:rPr lang="ja-JP" altLang="ja-JP" sz="2400" dirty="0"/>
              <a:t>表示</a:t>
            </a:r>
            <a:r>
              <a:rPr lang="ja-JP" altLang="en-US" sz="2400" dirty="0"/>
              <a:t>する機能</a:t>
            </a:r>
            <a:endParaRPr kumimoji="1" lang="ja-JP" altLang="en-US" sz="2400" dirty="0"/>
          </a:p>
        </p:txBody>
      </p:sp>
    </p:spTree>
    <p:extLst>
      <p:ext uri="{BB962C8B-B14F-4D97-AF65-F5344CB8AC3E}">
        <p14:creationId xmlns:p14="http://schemas.microsoft.com/office/powerpoint/2010/main" val="2743683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5F3055-AC54-A5D6-DEE9-BAD57CBE7C8B}"/>
              </a:ext>
            </a:extLst>
          </p:cNvPr>
          <p:cNvSpPr>
            <a:spLocks noGrp="1"/>
          </p:cNvSpPr>
          <p:nvPr>
            <p:ph type="title"/>
          </p:nvPr>
        </p:nvSpPr>
        <p:spPr>
          <a:xfrm>
            <a:off x="786799" y="971788"/>
            <a:ext cx="9922764" cy="935982"/>
          </a:xfrm>
        </p:spPr>
        <p:txBody>
          <a:bodyPr/>
          <a:lstStyle/>
          <a:p>
            <a:r>
              <a:rPr kumimoji="1" lang="en-US" altLang="ja-JP" dirty="0"/>
              <a:t>issue2</a:t>
            </a:r>
            <a:r>
              <a:rPr kumimoji="1" lang="ja-JP" altLang="en-US" dirty="0"/>
              <a:t>について</a:t>
            </a:r>
          </a:p>
        </p:txBody>
      </p:sp>
      <p:sp>
        <p:nvSpPr>
          <p:cNvPr id="3" name="コンテンツ プレースホルダー 2">
            <a:extLst>
              <a:ext uri="{FF2B5EF4-FFF2-40B4-BE49-F238E27FC236}">
                <a16:creationId xmlns:a16="http://schemas.microsoft.com/office/drawing/2014/main" id="{B4C2408E-BDD4-0DE0-9369-6331D1C03765}"/>
              </a:ext>
            </a:extLst>
          </p:cNvPr>
          <p:cNvSpPr>
            <a:spLocks noGrp="1"/>
          </p:cNvSpPr>
          <p:nvPr>
            <p:ph idx="1"/>
          </p:nvPr>
        </p:nvSpPr>
        <p:spPr>
          <a:xfrm>
            <a:off x="592836" y="1907770"/>
            <a:ext cx="10532364" cy="4531130"/>
          </a:xfrm>
        </p:spPr>
        <p:txBody>
          <a:bodyPr>
            <a:normAutofit/>
          </a:bodyPr>
          <a:lstStyle/>
          <a:p>
            <a:pPr marL="0" indent="0">
              <a:buNone/>
            </a:pPr>
            <a:r>
              <a:rPr kumimoji="1" lang="ja-JP" altLang="en-US" sz="3600" dirty="0"/>
              <a:t>・概要</a:t>
            </a:r>
            <a:endParaRPr kumimoji="1" lang="en-US" altLang="ja-JP" sz="3600" dirty="0"/>
          </a:p>
          <a:p>
            <a:pPr marL="0" indent="0">
              <a:buNone/>
            </a:pPr>
            <a:r>
              <a:rPr kumimoji="1" lang="ja-JP" altLang="en-US" sz="2800" b="0" i="0" u="none" strike="noStrike" kern="1200" cap="none" spc="0" normalizeH="0" baseline="0" noProof="0" dirty="0">
                <a:ln>
                  <a:noFill/>
                </a:ln>
                <a:solidFill>
                  <a:srgbClr val="000000"/>
                </a:solidFill>
                <a:effectLst/>
                <a:uLnTx/>
                <a:uFillTx/>
                <a:latin typeface="Neue Haas Grotesk Text Pro"/>
                <a:ea typeface="+mn-ea"/>
                <a:cs typeface="+mn-cs"/>
              </a:rPr>
              <a:t>つながりのあるユーザーのフォロー</a:t>
            </a:r>
            <a:r>
              <a:rPr kumimoji="1" lang="en-US" altLang="ja-JP" sz="2800" b="0" i="0" u="none" strike="noStrike" kern="1200" cap="none" spc="0" normalizeH="0" baseline="0" noProof="0" dirty="0">
                <a:ln>
                  <a:noFill/>
                </a:ln>
                <a:solidFill>
                  <a:srgbClr val="000000"/>
                </a:solidFill>
                <a:effectLst/>
                <a:uLnTx/>
                <a:uFillTx/>
                <a:latin typeface="Neue Haas Grotesk Text Pro"/>
                <a:ea typeface="+mn-ea"/>
                <a:cs typeface="+mn-cs"/>
              </a:rPr>
              <a:t>/</a:t>
            </a:r>
            <a:r>
              <a:rPr kumimoji="1" lang="ja-JP" altLang="en-US" sz="2800" b="0" i="0" u="none" strike="noStrike" kern="1200" cap="none" spc="0" normalizeH="0" baseline="0" noProof="0" dirty="0">
                <a:ln>
                  <a:noFill/>
                </a:ln>
                <a:solidFill>
                  <a:srgbClr val="000000"/>
                </a:solidFill>
                <a:effectLst/>
                <a:uLnTx/>
                <a:uFillTx/>
                <a:latin typeface="Neue Haas Grotesk Text Pro"/>
                <a:ea typeface="+mn-ea"/>
                <a:cs typeface="+mn-cs"/>
              </a:rPr>
              <a:t>フォロワー数を表示する</a:t>
            </a:r>
            <a:endParaRPr kumimoji="1" lang="en-US" altLang="ja-JP" sz="2800" dirty="0"/>
          </a:p>
          <a:p>
            <a:pPr marL="0" indent="0">
              <a:buNone/>
            </a:pPr>
            <a:r>
              <a:rPr kumimoji="1" lang="ja-JP" altLang="en-US" sz="3600" dirty="0"/>
              <a:t>・実装内容</a:t>
            </a:r>
            <a:endParaRPr kumimoji="1" lang="en-US" altLang="ja-JP" sz="3600" dirty="0"/>
          </a:p>
          <a:p>
            <a:pPr marL="0" indent="0">
              <a:buNone/>
            </a:pPr>
            <a:r>
              <a:rPr lang="ja-JP" altLang="en-US" sz="3000" dirty="0"/>
              <a:t>ユーザーのフォローフォロワーを表示したとき、表示されたユーザーのフォローフォロワー数を表示する機能</a:t>
            </a:r>
            <a:endParaRPr kumimoji="1" lang="en-US" altLang="ja-JP" sz="3000" dirty="0"/>
          </a:p>
          <a:p>
            <a:pPr marL="0" indent="0">
              <a:buNone/>
            </a:pPr>
            <a:endParaRPr kumimoji="1" lang="en-US" altLang="ja-JP" sz="3600" dirty="0"/>
          </a:p>
          <a:p>
            <a:pPr marL="0" indent="0">
              <a:buNone/>
            </a:pPr>
            <a:endParaRPr kumimoji="1" lang="ja-JP" altLang="en-US" dirty="0"/>
          </a:p>
          <a:p>
            <a:pPr marL="0" indent="0">
              <a:buNone/>
            </a:pPr>
            <a:endParaRPr kumimoji="1" lang="ja-JP" altLang="en-US" dirty="0"/>
          </a:p>
        </p:txBody>
      </p:sp>
    </p:spTree>
    <p:extLst>
      <p:ext uri="{BB962C8B-B14F-4D97-AF65-F5344CB8AC3E}">
        <p14:creationId xmlns:p14="http://schemas.microsoft.com/office/powerpoint/2010/main" val="1097621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10BBF7-BD1A-A1B6-0ADC-84590F68DB67}"/>
              </a:ext>
            </a:extLst>
          </p:cNvPr>
          <p:cNvSpPr>
            <a:spLocks noGrp="1"/>
          </p:cNvSpPr>
          <p:nvPr>
            <p:ph type="title"/>
          </p:nvPr>
        </p:nvSpPr>
        <p:spPr>
          <a:xfrm>
            <a:off x="882080" y="848870"/>
            <a:ext cx="10427840" cy="632458"/>
          </a:xfrm>
        </p:spPr>
        <p:txBody>
          <a:bodyPr/>
          <a:lstStyle/>
          <a:p>
            <a:r>
              <a:rPr kumimoji="1" lang="en-US" altLang="ja-JP" dirty="0"/>
              <a:t>issue3</a:t>
            </a:r>
            <a:r>
              <a:rPr kumimoji="1" lang="ja-JP" altLang="en-US" dirty="0"/>
              <a:t>について</a:t>
            </a:r>
          </a:p>
        </p:txBody>
      </p:sp>
      <p:sp>
        <p:nvSpPr>
          <p:cNvPr id="3" name="コンテンツ プレースホルダー 2">
            <a:extLst>
              <a:ext uri="{FF2B5EF4-FFF2-40B4-BE49-F238E27FC236}">
                <a16:creationId xmlns:a16="http://schemas.microsoft.com/office/drawing/2014/main" id="{F7F9BDDC-AF4A-896E-AD64-F960AE13DFB9}"/>
              </a:ext>
            </a:extLst>
          </p:cNvPr>
          <p:cNvSpPr>
            <a:spLocks noGrp="1"/>
          </p:cNvSpPr>
          <p:nvPr>
            <p:ph idx="1"/>
          </p:nvPr>
        </p:nvSpPr>
        <p:spPr>
          <a:xfrm>
            <a:off x="849758" y="1700224"/>
            <a:ext cx="10427841" cy="4426256"/>
          </a:xfrm>
        </p:spPr>
        <p:txBody>
          <a:bodyPr>
            <a:normAutofit/>
          </a:bodyPr>
          <a:lstStyle/>
          <a:p>
            <a:pPr marL="0" indent="0">
              <a:buNone/>
            </a:pPr>
            <a:r>
              <a:rPr kumimoji="1" lang="ja-JP" altLang="en-US" sz="4000" dirty="0"/>
              <a:t>・概要</a:t>
            </a:r>
            <a:endParaRPr kumimoji="1" lang="en-US" altLang="ja-JP" sz="4000" dirty="0"/>
          </a:p>
          <a:p>
            <a:pPr marL="0" indent="0">
              <a:buNone/>
            </a:pPr>
            <a:r>
              <a:rPr lang="ja-JP" altLang="ja-JP" sz="2000" dirty="0"/>
              <a:t>指定したマイクロポストを</a:t>
            </a:r>
            <a:r>
              <a:rPr lang="ja-JP" altLang="en-US" sz="2000" dirty="0"/>
              <a:t>指定された</a:t>
            </a:r>
            <a:r>
              <a:rPr lang="ja-JP" altLang="ja-JP" sz="2000" dirty="0"/>
              <a:t>画面の一番上に常に表示させる</a:t>
            </a:r>
            <a:endParaRPr lang="en-US" altLang="ja-JP" sz="2000" dirty="0"/>
          </a:p>
          <a:p>
            <a:pPr marL="0" indent="0">
              <a:buNone/>
            </a:pPr>
            <a:r>
              <a:rPr kumimoji="1" lang="ja-JP" altLang="en-US" sz="2000" dirty="0"/>
              <a:t>「固定マイクロポスト機能」の作成</a:t>
            </a:r>
            <a:endParaRPr kumimoji="1" lang="en-US" altLang="ja-JP" sz="2000" dirty="0"/>
          </a:p>
          <a:p>
            <a:pPr marL="0" indent="0">
              <a:buNone/>
            </a:pPr>
            <a:r>
              <a:rPr kumimoji="1" lang="ja-JP" altLang="en-US" sz="4000" dirty="0"/>
              <a:t>・実装内容</a:t>
            </a:r>
            <a:endParaRPr kumimoji="1" lang="en-US" altLang="ja-JP" sz="4000" dirty="0"/>
          </a:p>
          <a:p>
            <a:pPr marL="0" indent="0">
              <a:buNone/>
            </a:pPr>
            <a:r>
              <a:rPr lang="ja-JP" altLang="ja-JP" sz="2000" dirty="0"/>
              <a:t>自身が投稿したマイクロポストにのみ</a:t>
            </a:r>
            <a:r>
              <a:rPr lang="ja-JP" altLang="en-US" sz="2000" dirty="0"/>
              <a:t>、固定を行うことが出来るリンクを表示</a:t>
            </a:r>
            <a:endParaRPr lang="en-US" altLang="ja-JP" sz="2000" dirty="0"/>
          </a:p>
          <a:p>
            <a:pPr marL="0" indent="0">
              <a:buNone/>
            </a:pPr>
            <a:r>
              <a:rPr kumimoji="1" lang="en-US" altLang="ja-JP" sz="2000" dirty="0"/>
              <a:t>1</a:t>
            </a:r>
            <a:r>
              <a:rPr kumimoji="1" lang="ja-JP" altLang="en-US" sz="2000" dirty="0"/>
              <a:t>ユーザーに</a:t>
            </a:r>
            <a:r>
              <a:rPr kumimoji="1" lang="en-US" altLang="ja-JP" sz="2000" dirty="0"/>
              <a:t>1</a:t>
            </a:r>
            <a:r>
              <a:rPr kumimoji="1" lang="ja-JP" altLang="en-US" sz="2000" dirty="0"/>
              <a:t>件のみ固定マイクロポストができるようにする</a:t>
            </a:r>
            <a:endParaRPr kumimoji="1" lang="en-US" altLang="ja-JP" sz="2000" dirty="0"/>
          </a:p>
          <a:p>
            <a:pPr marL="0" indent="0">
              <a:buNone/>
            </a:pPr>
            <a:r>
              <a:rPr lang="ja-JP" altLang="ja-JP" sz="2000" dirty="0"/>
              <a:t>フィード画面</a:t>
            </a:r>
            <a:r>
              <a:rPr lang="ja-JP" altLang="en-US" sz="2000" dirty="0"/>
              <a:t>とユーザー詳細画面で</a:t>
            </a:r>
            <a:r>
              <a:rPr lang="ja-JP" altLang="ja-JP" sz="2000" dirty="0"/>
              <a:t>画面の一番上</a:t>
            </a:r>
            <a:r>
              <a:rPr lang="ja-JP" altLang="en-US" sz="2000" dirty="0"/>
              <a:t>に表示させる</a:t>
            </a:r>
            <a:endParaRPr kumimoji="1" lang="ja-JP" altLang="en-US" sz="2000" dirty="0"/>
          </a:p>
          <a:p>
            <a:pPr marL="0" indent="0">
              <a:buNone/>
            </a:pPr>
            <a:endParaRPr kumimoji="1" lang="ja-JP" altLang="en-US" dirty="0"/>
          </a:p>
        </p:txBody>
      </p:sp>
    </p:spTree>
    <p:extLst>
      <p:ext uri="{BB962C8B-B14F-4D97-AF65-F5344CB8AC3E}">
        <p14:creationId xmlns:p14="http://schemas.microsoft.com/office/powerpoint/2010/main" val="3144308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0C30CE-96E3-E5E9-D2A5-DC754B45B5A0}"/>
              </a:ext>
            </a:extLst>
          </p:cNvPr>
          <p:cNvSpPr>
            <a:spLocks noGrp="1"/>
          </p:cNvSpPr>
          <p:nvPr>
            <p:ph type="title"/>
          </p:nvPr>
        </p:nvSpPr>
        <p:spPr/>
        <p:txBody>
          <a:bodyPr/>
          <a:lstStyle/>
          <a:p>
            <a:r>
              <a:rPr kumimoji="1" lang="en-US" altLang="ja-JP" dirty="0"/>
              <a:t>issue3</a:t>
            </a:r>
            <a:r>
              <a:rPr kumimoji="1" lang="ja-JP" altLang="en-US" dirty="0"/>
              <a:t>の拡張機能について</a:t>
            </a:r>
          </a:p>
        </p:txBody>
      </p:sp>
      <p:sp>
        <p:nvSpPr>
          <p:cNvPr id="3" name="コンテンツ プレースホルダー 2">
            <a:extLst>
              <a:ext uri="{FF2B5EF4-FFF2-40B4-BE49-F238E27FC236}">
                <a16:creationId xmlns:a16="http://schemas.microsoft.com/office/drawing/2014/main" id="{6A14E9C1-0AF1-EAAD-7BAB-083FAB8307A7}"/>
              </a:ext>
            </a:extLst>
          </p:cNvPr>
          <p:cNvSpPr>
            <a:spLocks noGrp="1"/>
          </p:cNvSpPr>
          <p:nvPr>
            <p:ph idx="1"/>
          </p:nvPr>
        </p:nvSpPr>
        <p:spPr/>
        <p:txBody>
          <a:bodyPr/>
          <a:lstStyle/>
          <a:p>
            <a:pPr marL="0" indent="0">
              <a:buNone/>
            </a:pPr>
            <a:r>
              <a:rPr kumimoji="1" lang="ja-JP" altLang="en-US" sz="4400" dirty="0"/>
              <a:t>・概要</a:t>
            </a:r>
            <a:endParaRPr kumimoji="1" lang="en-US" altLang="ja-JP" sz="4400" dirty="0"/>
          </a:p>
          <a:p>
            <a:pPr marL="0" indent="0">
              <a:buNone/>
            </a:pPr>
            <a:r>
              <a:rPr lang="ja-JP" altLang="ja-JP" sz="2400" dirty="0"/>
              <a:t>別の固定マイクロポストを指定しなくても、固定解除</a:t>
            </a:r>
            <a:r>
              <a:rPr lang="ja-JP" altLang="en-US" sz="2400" dirty="0"/>
              <a:t>できる機能</a:t>
            </a:r>
            <a:endParaRPr lang="en-US" altLang="ja-JP" sz="2400" dirty="0"/>
          </a:p>
          <a:p>
            <a:pPr marL="0" indent="0">
              <a:buNone/>
            </a:pPr>
            <a:r>
              <a:rPr kumimoji="1" lang="ja-JP" altLang="en-US" sz="2400" dirty="0"/>
              <a:t>固定されていることを分かりやすくするメッセージの表示</a:t>
            </a:r>
            <a:endParaRPr kumimoji="1" lang="en-US" altLang="ja-JP" sz="2400" dirty="0"/>
          </a:p>
          <a:p>
            <a:pPr marL="0" indent="0">
              <a:buNone/>
            </a:pPr>
            <a:r>
              <a:rPr kumimoji="1" lang="ja-JP" altLang="en-US" sz="4400" dirty="0"/>
              <a:t>・実装内容</a:t>
            </a:r>
            <a:endParaRPr kumimoji="1" lang="en-US" altLang="ja-JP" sz="4400" dirty="0"/>
          </a:p>
          <a:p>
            <a:pPr marL="0" indent="0">
              <a:buNone/>
            </a:pPr>
            <a:r>
              <a:rPr kumimoji="1" lang="ja-JP" altLang="en-US" sz="2400" dirty="0"/>
              <a:t>固定フラグを立てるロジックの変更、リンクの表示の変更</a:t>
            </a:r>
            <a:endParaRPr kumimoji="1" lang="en-US" altLang="ja-JP" sz="2400" dirty="0"/>
          </a:p>
          <a:p>
            <a:pPr marL="0" indent="0">
              <a:buNone/>
            </a:pPr>
            <a:r>
              <a:rPr kumimoji="1" lang="ja-JP" altLang="en-US" sz="2400" dirty="0"/>
              <a:t>固定されているものにのみメッセージを表示する処理</a:t>
            </a:r>
          </a:p>
          <a:p>
            <a:pPr marL="0" indent="0">
              <a:buNone/>
            </a:pPr>
            <a:endParaRPr kumimoji="1" lang="ja-JP" altLang="en-US" dirty="0"/>
          </a:p>
        </p:txBody>
      </p:sp>
    </p:spTree>
    <p:extLst>
      <p:ext uri="{BB962C8B-B14F-4D97-AF65-F5344CB8AC3E}">
        <p14:creationId xmlns:p14="http://schemas.microsoft.com/office/powerpoint/2010/main" val="3591653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4EE72-3927-E744-4E5E-299C3460A8D8}"/>
              </a:ext>
            </a:extLst>
          </p:cNvPr>
          <p:cNvSpPr>
            <a:spLocks noGrp="1"/>
          </p:cNvSpPr>
          <p:nvPr>
            <p:ph type="title"/>
          </p:nvPr>
        </p:nvSpPr>
        <p:spPr>
          <a:xfrm>
            <a:off x="901100" y="675009"/>
            <a:ext cx="9922764" cy="935982"/>
          </a:xfrm>
        </p:spPr>
        <p:txBody>
          <a:bodyPr/>
          <a:lstStyle/>
          <a:p>
            <a:r>
              <a:rPr kumimoji="1" lang="ja-JP" altLang="en-US" dirty="0"/>
              <a:t>オリジナル機能</a:t>
            </a:r>
          </a:p>
        </p:txBody>
      </p:sp>
      <p:sp>
        <p:nvSpPr>
          <p:cNvPr id="3" name="コンテンツ プレースホルダー 2">
            <a:extLst>
              <a:ext uri="{FF2B5EF4-FFF2-40B4-BE49-F238E27FC236}">
                <a16:creationId xmlns:a16="http://schemas.microsoft.com/office/drawing/2014/main" id="{D37BA633-93DA-DF75-FDE7-5EF9E5D8F54F}"/>
              </a:ext>
            </a:extLst>
          </p:cNvPr>
          <p:cNvSpPr>
            <a:spLocks noGrp="1"/>
          </p:cNvSpPr>
          <p:nvPr>
            <p:ph idx="1"/>
          </p:nvPr>
        </p:nvSpPr>
        <p:spPr>
          <a:xfrm>
            <a:off x="983671" y="1345622"/>
            <a:ext cx="10508673" cy="4701887"/>
          </a:xfrm>
        </p:spPr>
        <p:txBody>
          <a:bodyPr>
            <a:normAutofit fontScale="92500" lnSpcReduction="20000"/>
          </a:bodyPr>
          <a:lstStyle/>
          <a:p>
            <a:r>
              <a:rPr lang="ja-JP" altLang="en-US" sz="3200" dirty="0"/>
              <a:t>・実装</a:t>
            </a:r>
            <a:r>
              <a:rPr kumimoji="1" lang="ja-JP" altLang="en-US" sz="3200" dirty="0"/>
              <a:t>した機能</a:t>
            </a:r>
            <a:endParaRPr kumimoji="1" lang="en-US" altLang="ja-JP" sz="3200" dirty="0"/>
          </a:p>
          <a:p>
            <a:r>
              <a:rPr lang="ja-JP" altLang="en-US" sz="2800" dirty="0"/>
              <a:t>ポストに属性を付与できるようにした</a:t>
            </a:r>
            <a:endParaRPr lang="en-US" altLang="ja-JP" sz="2800" dirty="0"/>
          </a:p>
          <a:p>
            <a:r>
              <a:rPr kumimoji="1" lang="ja-JP" altLang="en-US" sz="2800" dirty="0"/>
              <a:t>属性からポストを絞り込めるようにした</a:t>
            </a:r>
            <a:endParaRPr kumimoji="1" lang="en-US" altLang="ja-JP" sz="2800" dirty="0"/>
          </a:p>
          <a:p>
            <a:endParaRPr lang="en-US" altLang="ja-JP" sz="2800" dirty="0"/>
          </a:p>
          <a:p>
            <a:r>
              <a:rPr lang="ja-JP" altLang="en-US" sz="3500" dirty="0"/>
              <a:t>・目的</a:t>
            </a:r>
            <a:endParaRPr lang="en-US" altLang="ja-JP" sz="3500" dirty="0"/>
          </a:p>
          <a:p>
            <a:r>
              <a:rPr kumimoji="1" lang="ja-JP" altLang="en-US" sz="2800" dirty="0"/>
              <a:t>一目で</a:t>
            </a:r>
            <a:r>
              <a:rPr lang="ja-JP" altLang="en-US" sz="2800" dirty="0"/>
              <a:t>投稿の</a:t>
            </a:r>
            <a:r>
              <a:rPr kumimoji="1" lang="ja-JP" altLang="en-US" sz="2800" dirty="0"/>
              <a:t>目的が大まかにわかるようにしました。</a:t>
            </a:r>
            <a:endParaRPr kumimoji="1" lang="en-US" altLang="ja-JP" sz="2800" dirty="0"/>
          </a:p>
          <a:p>
            <a:r>
              <a:rPr lang="ja-JP" altLang="en-US" sz="2800" dirty="0"/>
              <a:t>属性で絞り込めることによって自分の見たい投稿、知りたいことをすぐ見つけられるようことを目指した</a:t>
            </a:r>
            <a:endParaRPr lang="en-US" altLang="ja-JP" sz="2800" dirty="0"/>
          </a:p>
          <a:p>
            <a:endParaRPr kumimoji="1" lang="en-US" altLang="ja-JP" sz="2800" dirty="0"/>
          </a:p>
          <a:p>
            <a:r>
              <a:rPr lang="ja-JP" altLang="en-US" sz="2800" dirty="0"/>
              <a:t>・予定</a:t>
            </a:r>
            <a:endParaRPr kumimoji="1" lang="ja-JP" altLang="en-US" sz="2800" dirty="0"/>
          </a:p>
        </p:txBody>
      </p:sp>
    </p:spTree>
    <p:extLst>
      <p:ext uri="{BB962C8B-B14F-4D97-AF65-F5344CB8AC3E}">
        <p14:creationId xmlns:p14="http://schemas.microsoft.com/office/powerpoint/2010/main" val="3018419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0369E5-ABB0-8165-2B5C-FC0D464DDAB7}"/>
              </a:ext>
            </a:extLst>
          </p:cNvPr>
          <p:cNvSpPr>
            <a:spLocks noGrp="1"/>
          </p:cNvSpPr>
          <p:nvPr>
            <p:ph type="title"/>
          </p:nvPr>
        </p:nvSpPr>
        <p:spPr>
          <a:xfrm>
            <a:off x="583060" y="223137"/>
            <a:ext cx="10427840" cy="696726"/>
          </a:xfrm>
        </p:spPr>
        <p:txBody>
          <a:bodyPr/>
          <a:lstStyle/>
          <a:p>
            <a:r>
              <a:rPr kumimoji="1" lang="ja-JP" altLang="en-US" dirty="0"/>
              <a:t>感想</a:t>
            </a:r>
          </a:p>
        </p:txBody>
      </p:sp>
      <p:sp>
        <p:nvSpPr>
          <p:cNvPr id="3" name="コンテンツ プレースホルダー 2">
            <a:extLst>
              <a:ext uri="{FF2B5EF4-FFF2-40B4-BE49-F238E27FC236}">
                <a16:creationId xmlns:a16="http://schemas.microsoft.com/office/drawing/2014/main" id="{70CB9088-1488-B98B-54B2-8EAA6339A687}"/>
              </a:ext>
            </a:extLst>
          </p:cNvPr>
          <p:cNvSpPr>
            <a:spLocks noGrp="1"/>
          </p:cNvSpPr>
          <p:nvPr>
            <p:ph idx="1"/>
          </p:nvPr>
        </p:nvSpPr>
        <p:spPr>
          <a:xfrm>
            <a:off x="849758" y="1143000"/>
            <a:ext cx="10427840" cy="5143500"/>
          </a:xfrm>
        </p:spPr>
        <p:txBody>
          <a:bodyPr>
            <a:noAutofit/>
          </a:bodyPr>
          <a:lstStyle/>
          <a:p>
            <a:pPr marL="0" indent="0">
              <a:buNone/>
            </a:pPr>
            <a:r>
              <a:rPr kumimoji="1" lang="ja-JP" altLang="en-US" sz="2400" dirty="0"/>
              <a:t>・</a:t>
            </a:r>
            <a:r>
              <a:rPr kumimoji="1" lang="en-US" altLang="ja-JP" sz="2400" dirty="0"/>
              <a:t>Ruby on rails </a:t>
            </a:r>
            <a:r>
              <a:rPr kumimoji="1" lang="ja-JP" altLang="en-US" sz="2400" dirty="0"/>
              <a:t>を触ったことが無い状態からのスタートだったが、手を動かしたり検索を活用したりすることで、考えているロジックを実装することが出来たので良かった。</a:t>
            </a:r>
            <a:endParaRPr kumimoji="1" lang="en-US" altLang="ja-JP" sz="2400" dirty="0"/>
          </a:p>
          <a:p>
            <a:pPr marL="0" indent="0">
              <a:buNone/>
            </a:pPr>
            <a:endParaRPr kumimoji="1" lang="en-US" altLang="ja-JP" sz="500" dirty="0"/>
          </a:p>
          <a:p>
            <a:pPr marL="0" indent="0">
              <a:buNone/>
            </a:pPr>
            <a:r>
              <a:rPr kumimoji="1" lang="ja-JP" altLang="en-US" sz="2400" dirty="0"/>
              <a:t>・</a:t>
            </a:r>
            <a:r>
              <a:rPr kumimoji="1" lang="en-US" altLang="ja-JP" sz="2400" dirty="0"/>
              <a:t>issue3</a:t>
            </a:r>
            <a:r>
              <a:rPr kumimoji="1" lang="ja-JP" altLang="en-US" sz="2400" dirty="0"/>
              <a:t>の実装にかなり手間取ってしまいオリジナル機能の作成になかなか取り掛かることが出来なかったが、拡張という形で実装を頑張れた。</a:t>
            </a:r>
            <a:endParaRPr kumimoji="1" lang="en-US" altLang="ja-JP" sz="2400" dirty="0"/>
          </a:p>
          <a:p>
            <a:pPr marL="0" indent="0">
              <a:buNone/>
            </a:pPr>
            <a:endParaRPr kumimoji="1" lang="en-US" altLang="ja-JP" sz="500" dirty="0"/>
          </a:p>
          <a:p>
            <a:r>
              <a:rPr lang="ja-JP" altLang="en-US" sz="2400" dirty="0"/>
              <a:t>・</a:t>
            </a:r>
            <a:r>
              <a:rPr lang="ja-JP" altLang="ja-JP" sz="2400" dirty="0"/>
              <a:t>実際に動くものができるととても達成感が得られた。</a:t>
            </a:r>
            <a:endParaRPr lang="en-US" altLang="ja-JP" sz="2400" dirty="0"/>
          </a:p>
          <a:p>
            <a:endParaRPr lang="en-US" altLang="ja-JP" sz="500" dirty="0"/>
          </a:p>
          <a:p>
            <a:r>
              <a:rPr lang="ja-JP" altLang="en-US" sz="2400" dirty="0"/>
              <a:t>・オリジナル機能が既存</a:t>
            </a:r>
            <a:r>
              <a:rPr lang="en-US" altLang="ja-JP" sz="2400" dirty="0"/>
              <a:t>SNS</a:t>
            </a:r>
            <a:r>
              <a:rPr lang="ja-JP" altLang="en-US" sz="2400" dirty="0"/>
              <a:t>にかぶりすぎないようにするにはどうしたらいいかアイデアを出すのに苦戦した。</a:t>
            </a:r>
            <a:endParaRPr lang="en-US" altLang="ja-JP" sz="2400" dirty="0"/>
          </a:p>
          <a:p>
            <a:endParaRPr lang="en-US" altLang="ja-JP" sz="500" dirty="0"/>
          </a:p>
          <a:p>
            <a:r>
              <a:rPr lang="ja-JP" altLang="en-US" sz="2400" dirty="0"/>
              <a:t>・今回初めて触る言語で苦戦していたが、</a:t>
            </a:r>
            <a:r>
              <a:rPr kumimoji="1" lang="en-US" altLang="ja-JP" sz="2400" dirty="0"/>
              <a:t>AI</a:t>
            </a:r>
            <a:r>
              <a:rPr lang="ja-JP" altLang="en-US" sz="2400" dirty="0"/>
              <a:t>に解説を求めるとわかりやすく丁寧に教えてくれた。</a:t>
            </a:r>
            <a:r>
              <a:rPr lang="en-US" altLang="ja-JP" sz="2400" dirty="0"/>
              <a:t>AI</a:t>
            </a:r>
            <a:r>
              <a:rPr lang="ja-JP" altLang="en-US" sz="2400" dirty="0"/>
              <a:t>の有能さを再認識した。</a:t>
            </a:r>
            <a:endParaRPr kumimoji="1" lang="ja-JP" altLang="en-US" sz="2400" dirty="0"/>
          </a:p>
        </p:txBody>
      </p:sp>
    </p:spTree>
    <p:extLst>
      <p:ext uri="{BB962C8B-B14F-4D97-AF65-F5344CB8AC3E}">
        <p14:creationId xmlns:p14="http://schemas.microsoft.com/office/powerpoint/2010/main" val="353970833"/>
      </p:ext>
    </p:extLst>
  </p:cSld>
  <p:clrMapOvr>
    <a:masterClrMapping/>
  </p:clrMapOvr>
</p:sld>
</file>

<file path=ppt/theme/theme1.xml><?xml version="1.0" encoding="utf-8"?>
<a:theme xmlns:a="http://schemas.openxmlformats.org/drawingml/2006/main" name="ビョルン">
  <a:themeElements>
    <a:clrScheme name="ビョルン">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Bjorn</Template>
  <TotalTime>322</TotalTime>
  <Words>865</Words>
  <Application>Microsoft Office PowerPoint</Application>
  <PresentationFormat>ワイド画面</PresentationFormat>
  <Paragraphs>93</Paragraphs>
  <Slides>8</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System Font Regular</vt:lpstr>
      <vt:lpstr>游ゴシック</vt:lpstr>
      <vt:lpstr>Arial</vt:lpstr>
      <vt:lpstr>Neue Haas Grotesk Text Pro</vt:lpstr>
      <vt:lpstr>ビョルン</vt:lpstr>
      <vt:lpstr>TEAM-D 成果発表</vt:lpstr>
      <vt:lpstr>取り組んだこと</vt:lpstr>
      <vt:lpstr>issue1について</vt:lpstr>
      <vt:lpstr>issue2について</vt:lpstr>
      <vt:lpstr>issue3について</vt:lpstr>
      <vt:lpstr>issue3の拡張機能について</vt:lpstr>
      <vt:lpstr>オリジナル機能</vt:lpstr>
      <vt:lpstr>感想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j2322_澤和 楓音_松江</dc:creator>
  <cp:lastModifiedBy>多田 悠真_米子学生</cp:lastModifiedBy>
  <cp:revision>2</cp:revision>
  <dcterms:created xsi:type="dcterms:W3CDTF">2026-08-28T01:07:57Z</dcterms:created>
  <dcterms:modified xsi:type="dcterms:W3CDTF">2026-08-28T06:37:06Z</dcterms:modified>
</cp:coreProperties>
</file>